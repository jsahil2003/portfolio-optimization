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 equity strategy for the Finesse x Citadel challenge, fully free of lookahead bias. Built with heavy use of Claude Code (AI coding assistant) - disclosed in detail on the AI-usage slide near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Brief: up to 10 stocks from 300 (Nifty100+Midcap100+Smallcap100), 2021-2025 backtest, ranked primarily on Total Net PNL, with Sharpe/drawdown/benchmark as secondary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stages: (1) live-pulled universe, (2) monthly stock selection via composite score, (3) Ledoit-Wolf position sizing, (4) realistic backtest + rigorous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Momentum 40%, close-to-close low-vol 25%, Parkinson (intraday) vol 10%, 52-week-high 15%, liquidity 10%. Weights are walk-forward validated across 4 separate checks - see the rigor slides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fundamentals (P/E, ROE) because our data source only gives TODAY's snapshot, not historical values - using it would be lookahead bias. Earlier fundamentals-based version retired, kept in code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Ledoit-Wolf shrinkage minimum-variance: uses full correlation structure between the 10 picks, not just each stock's own risk. Beat 2 alternatives (inverse-vol, HRP) on every metric, verified 4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Ledoit-Wolf does NOT guarantee negative correlation - it's a weighting method, can't change which stocks get picked. It DOES exploit whatever correlation exists: concrete example, negatively-correlated pair got more weight under Ledoit-Wolf than a simpler method. ~7% of pairs negatively correlated overall - realistic for single-market long-only.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Mistake #1 (self-caught): a weight combo looked great, but nearby weights swung wildly - sign of a fluke, not a real pattern. Rejected, used the honest simpler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Mistake #2 (self-caught): added a 5th signal, smooth in-sample this time - but train/test split showed it got WORSE on unseen data. Lesson: smoothness alone isn't proof against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Applied the lesson properly: 84 weight combos, selected by consistency across train AND test, not train alone. Train-test correlation ~0 across all combos - striking proof naive tuning doesn't transfer. Final pick performs nearly identically on both windows. This became the strategy for a while, later refined further (next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a 5th signal (Parkinson intraday volatility) alongside the existing close-to-close volatility - complementary, not redundant. First candidate looked good on the primary split but a finer neighborhood check (asked for before adopting) revealed real fragility nearby. Re-centered within the cluster of good performance and re-validated on an independent second split. Final weights beat the previous strategy on all 4 checks run, not just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38.4% annualized return vs Nifty 50's 13.4%; Sharpe 1.73 vs 0.97; MDD close to benchmark. ~₹3.90cr net profit on ₹1cr capital over 5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 straight line: 2 real bugs found+fixed on first live run (implausible numbers triggered investigation), weighting schemes compared properly, 2 self-caught overfitting traps.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limitations: single 5-year window, universe needs live network access, simplified transaction costs, no shorting/leverage so diversification is inherently 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transparency: Claude Code wrote all the code and ran every real backtest shown. My role: directed the work, asked hard questions, made trade-off calls, ensured honest documentation. I can explain every concept myself using the source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for questions on any part - math, validation methodology, or the code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 Lookahead-Bias-Free Quantitative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3C2B7"/>
                </a:solidFill>
                <a:latin typeface="Calibri"/>
              </a:rPr>
              <a:t>Finesse x Citadel Portfolio Challenge — Round 2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98781"/>
                </a:solidFill>
                <a:latin typeface="Calibri"/>
              </a:rPr>
              <a:t>Built with Claude Code (Anthropic) — see final slide for AI-usage disclosure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Build a quantitative equity portfolio: up to 10 stocks from Nifty 100 + Midcap 100 + Smallcap 100 (300 stocks total)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Backtest 2021-01-01 to 2025-12-31, ₹1,00,00,000 starting capital, 0.1% transaction cost per trade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   –  Ranked primarily on Total Net PNL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   –  Secondary metrics: annualized return, max drawdown, Sharpe ratio, gain-to-loss ratio, accuracy, trade statistics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Benchmarked against a relevant market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PROJECT_SUMMARY.md §1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Approach: Four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2A78D6"/>
                </a:solidFill>
                <a:latin typeface="Calibri"/>
              </a:rPr>
              <a:t>•  1. Universe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Live-pulled from niftyindices.com every run — 300 stocks, always current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2A78D6"/>
                </a:solidFill>
                <a:latin typeface="Calibri"/>
              </a:rPr>
              <a:t>•  2. Stock Selection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Every month, score all eligible stocks on 4 signals, take the top 10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2A78D6"/>
                </a:solidFill>
                <a:latin typeface="Calibri"/>
              </a:rPr>
              <a:t>•  3. Position Weighting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Ledoit-Wolf shrinkage minimum-variance — uses the full correlation structure between the 10 picks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2A78D6"/>
                </a:solidFill>
                <a:latin typeface="Calibri"/>
              </a:rPr>
              <a:t>•  4. Backtest &amp; Validate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Real share-level trade simulation, real transaction costs, walk-forward validated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PROJECT_SUMMARY.md §2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The Five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2514E"/>
                </a:solidFill>
                <a:latin typeface="Calibri"/>
              </a:rPr>
              <a:t>All five are calculated purely from historical price and volume data — genuinely lookahead-bias free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54864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Momentum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12-month return, most recent month excluded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Low-volatility (close-to-close)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Trailing 6-month realized volatility (inverted)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Parkinson volatility (intraday range)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Volatility from each day's High-Low range (inverted)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52-week-high proximity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Price ÷ trailing 12-month high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Liquidity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Amihud illiquidity (price impact per rupee traded), sign-flipped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PROJECT_SUMMARY.md §2  |  CONCEPTS.md §3-4, §24, §34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Why No P/E, ROE, or Other Fundamentals?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D03B3B"/>
                </a:solidFill>
                <a:latin typeface="Calibri"/>
              </a:rPr>
              <a:t>•  The problem: lookahead bias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Our data source (yfinance) only exposes TODAY's fundamentals, not what they were on any past date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Using 2026 fundamentals to simulate a March 2022 decision lets the backtest "see the future"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006300"/>
                </a:solidFill>
                <a:latin typeface="Calibri"/>
              </a:rPr>
              <a:t>•  The fix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Replaced Value/Quality (fundamentals-based) with 52-week-high and Liquidity (price/volume-based)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yfinance's historical OHLCV is genuinely point-in-time correct — no peeking, 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CONCEPTS.md §18, §24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Position Sizing: Ledoit-Wolf Minimum-Variance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Not equal-dollar (10% each) and not just inverse-volatility (ignores correlation)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Uses the full covariance matrix between all 10 stocks, shrunk toward a stable target (Ledoit &amp; Wolf, 2004) to avoid overfitting noisy correlation estimates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2A78D6"/>
                </a:solidFill>
                <a:latin typeface="Calibri"/>
              </a:rPr>
              <a:t>•  Compared 3 schemes empirically: inverse-vol, Ledoit-Wolf, Hierarchical Risk Parity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Ledoit-Wolf won on every metric simultaneously — verified across 4 separate robustness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CONCEPTS.md §20-23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Diversification: Does Ledoit-Wolf Guarantee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D03B3B"/>
                </a:solidFill>
                <a:latin typeface="Calibri"/>
              </a:rPr>
              <a:t>•  Short answer: No — and that's an important distinction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   –  Ledoit-Wolf is a WEIGHTING technique — it can't change which 10 stocks get picked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   –  It optimally exploits whatever correlation the selected stocks actually have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Concrete evidence, 2021-11-01 rebalance: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   –  Most negative pair (IIFL.NS &amp; TATAELXSI.NS, corr -0.11) got 21.2% combined weight under Ledoit-Wolf vs. only 17.9% under inverse-vol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52514E"/>
                </a:solidFill>
                <a:latin typeface="Calibri"/>
              </a:rPr>
              <a:t>•  Across 270 sampled pairs (6 dates): 7.0% negatively correlated, avg correlation 0.20 — realistic for a single-market long-only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CONCEPTS.md §31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Rigor #1: The Spike That Wasn't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A grid search over signal weights found a combination with Sharpe 1.80 — beating everything tried so far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D03B3B"/>
                </a:solidFill>
                <a:latin typeface="Calibri"/>
              </a:rPr>
              <a:t>•  But checking NEARBY weight combinations (±0.02-0.05):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   –  Sharpe swung wildly — 1.50 to 1.84 — for barely-different weights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EB6834"/>
                </a:solidFill>
                <a:latin typeface="Calibri"/>
              </a:rPr>
              <a:t>•  A smooth, stable neighborhood is expected from a real signal; a wild swing is the signature of overfitting to noise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1">
                <a:solidFill>
                  <a:srgbClr val="006300"/>
                </a:solidFill>
                <a:latin typeface="Calibri"/>
              </a:rPr>
              <a:t>•  Decision: rejected. Shipped the honest, untuned baseline instead.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CONCEPTS.md §27  |  CHANGELOG.md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Rigor #2: Smooth ≠ Safe — Walk-Forward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Tried adding a 5th signal (short-term reversal). This time the weight search WAS smooth in-sample.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Split data into TRAIN (2021-2023) and TEST (2024-2025, never touched during tuning):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   –  Train: Sharpe 1.27 → 1.84 (looked like a clear win)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D03B3B"/>
                </a:solidFill>
                <a:latin typeface="Calibri"/>
              </a:rPr>
              <a:t>   –  Test: Sharpe 1.63 → 1.42 (the "improvement" made things WORSE on unseen data)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EB6834"/>
                </a:solidFill>
                <a:latin typeface="Calibri"/>
              </a:rPr>
              <a:t>•  Lesson: smoothness rules out fitting noise in the SEARCH, but not fitting a pattern specific to the training period's market regime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CONCEPTS.md §28-29  |  CHANGELOG.md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Rigor #3: Properly Tuning the Base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•  Applied walk-forward validation to the base 4 signals themselves: 84 weight combinations, trained on 2021-2023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D03B3B"/>
                </a:solidFill>
                <a:latin typeface="Calibri"/>
              </a:rPr>
              <a:t>•  Correlation between TRAIN Sharpe and TEST Sharpe across all 84: 0.019 — essentially zero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   –  Train-period "winners" were momentum-heavy — and collapsed on the unseen test period (Sharpe fell to as low as 0.49)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800" b="1">
                <a:solidFill>
                  <a:srgbClr val="006300"/>
                </a:solidFill>
                <a:latin typeface="Calibri"/>
              </a:rPr>
              <a:t>•  Selected the combination robust in BOTH windows instead of the train-only leader — this became the strategy for a while</a:t>
            </a:r>
          </a:p>
          <a:p>
            <a:pPr lvl="1"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52514E"/>
                </a:solidFill>
                <a:latin typeface="Calibri"/>
              </a:rPr>
              <a:t>   –  (Later replaced by a 5-signal version — see next slide)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CONCEPTS.md §30  |  CHANGELOG.md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Rigor #4: Adding a 5th Signal, Stress-Tested 4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0">
                <a:solidFill>
                  <a:srgbClr val="0B0B0B"/>
                </a:solidFill>
                <a:latin typeface="Calibri"/>
              </a:rPr>
              <a:t>•  Added Parkinson (intraday-range) volatility alongside close-to-close volatility — complementary, not redundant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6300"/>
                </a:solidFill>
                <a:latin typeface="Calibri"/>
              </a:rPr>
              <a:t>•  Check 1 — primary train/test split: candidate beat the shipped strategy on both windows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D03B3B"/>
                </a:solidFill>
                <a:latin typeface="Calibri"/>
              </a:rPr>
              <a:t>•  Check 2 — fine-grid neighborhood (requested before adopting): revealed real fragility — nearby weights swung from Sharpe 0.60 to 1.69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6300"/>
                </a:solidFill>
                <a:latin typeface="Calibri"/>
              </a:rPr>
              <a:t>•  Check 3 — independent second split (2023-25 train / 2021-22 test): still beat the shipped strategy on both halves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6300"/>
                </a:solidFill>
                <a:latin typeface="Calibri"/>
              </a:rPr>
              <a:t>•  Check 4 — re-centered within the cluster of good performance, trading peak score for a much higher worst-case floor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6300"/>
                </a:solidFill>
                <a:latin typeface="Calibri"/>
              </a:rPr>
              <a:t>•  Final weights beat the previous strategy on all 4 checks, not just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CONCEPTS.md §34  |  CHANGELOG.md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Final Results (2021-2025, Live Data)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606040" cy="1554480"/>
          </a:xfrm>
          <a:prstGeom prst="rect">
            <a:avLst/>
          </a:prstGeom>
          <a:solidFill>
            <a:srgbClr val="F4F4F2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Total Net PNL</a:t>
            </a:r>
          </a:p>
          <a:p>
            <a:r>
              <a:rPr sz="3000" b="1">
                <a:solidFill>
                  <a:srgbClr val="2A78D6"/>
                </a:solidFill>
                <a:latin typeface="Calibri"/>
              </a:rPr>
              <a:t>₹3.90 cr</a:t>
            </a:r>
          </a:p>
          <a:p>
            <a:r>
              <a:rPr sz="1100">
                <a:solidFill>
                  <a:srgbClr val="898781"/>
                </a:solidFill>
                <a:latin typeface="Calibri"/>
              </a:rPr>
              <a:t>on ₹1 cr starting capital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737360"/>
            <a:ext cx="2606040" cy="1554480"/>
          </a:xfrm>
          <a:prstGeom prst="rect">
            <a:avLst/>
          </a:prstGeom>
          <a:solidFill>
            <a:srgbClr val="F4F4F2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Annualized Return</a:t>
            </a:r>
          </a:p>
          <a:p>
            <a:r>
              <a:rPr sz="3000" b="1">
                <a:solidFill>
                  <a:srgbClr val="1BAF7A"/>
                </a:solidFill>
                <a:latin typeface="Calibri"/>
              </a:rPr>
              <a:t>38.4%</a:t>
            </a:r>
          </a:p>
          <a:p>
            <a:r>
              <a:rPr sz="1100">
                <a:solidFill>
                  <a:srgbClr val="898781"/>
                </a:solidFill>
                <a:latin typeface="Calibri"/>
              </a:rPr>
              <a:t>vs. Nifty 50: 13.4%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737360"/>
            <a:ext cx="2606040" cy="1554480"/>
          </a:xfrm>
          <a:prstGeom prst="rect">
            <a:avLst/>
          </a:prstGeom>
          <a:solidFill>
            <a:srgbClr val="F4F4F2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Max Drawdown</a:t>
            </a:r>
          </a:p>
          <a:p>
            <a:r>
              <a:rPr sz="3000" b="1">
                <a:solidFill>
                  <a:srgbClr val="EB6834"/>
                </a:solidFill>
                <a:latin typeface="Calibri"/>
              </a:rPr>
              <a:t>-19.1%</a:t>
            </a:r>
          </a:p>
          <a:p>
            <a:r>
              <a:rPr sz="1100">
                <a:solidFill>
                  <a:srgbClr val="898781"/>
                </a:solidFill>
                <a:latin typeface="Calibri"/>
              </a:rPr>
              <a:t>vs. Nifty 50: -17.2%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737360"/>
            <a:ext cx="2606040" cy="1554480"/>
          </a:xfrm>
          <a:prstGeom prst="rect">
            <a:avLst/>
          </a:prstGeom>
          <a:solidFill>
            <a:srgbClr val="F4F4F2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300">
                <a:solidFill>
                  <a:srgbClr val="52514E"/>
                </a:solidFill>
                <a:latin typeface="Calibri"/>
              </a:rPr>
              <a:t>Sharpe Ratio</a:t>
            </a:r>
          </a:p>
          <a:p>
            <a:r>
              <a:rPr sz="3000" b="1">
                <a:solidFill>
                  <a:srgbClr val="2A78D6"/>
                </a:solidFill>
                <a:latin typeface="Calibri"/>
              </a:rPr>
              <a:t>1.73</a:t>
            </a:r>
          </a:p>
          <a:p>
            <a:r>
              <a:rPr sz="1100">
                <a:solidFill>
                  <a:srgbClr val="898781"/>
                </a:solidFill>
                <a:latin typeface="Calibri"/>
              </a:rPr>
              <a:t>vs. Nifty 50: 0.97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749039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Nifty 50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Nifty 500 TMI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Annualized Return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38.4%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13.4%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Max Drawdown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-19.1%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-17.2%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-18.8%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Sharpe Ratio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1.73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0.97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0B0B"/>
                          </a:solidFill>
                          <a:latin typeface="Calibri"/>
                        </a:defRPr>
                      </a:pPr>
                      <a:r>
                        <a:t>1.07</a:t>
                      </a:r>
                    </a:p>
                  </a:txBody>
                  <a:tcPr anchor="ctr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PROJECT_SUMMARY.md §5  |  citadel_submission.xlsx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The Full Methodological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1. Built the initial pipeline — universe, signals, weighting, backtest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2. Found and fixed 2 real bugs on the very first live run (implausible results triggered investigation)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3. Tuned risk vs. return — found and rejected an overly aggressive trade-off, chose a deliberate balance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4. Compared 3 weighting schemes empirically — adopted Ledoit-Wolf after 4 robustness checks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5. Eliminated lookahead bias entirely — replaced fundamentals-based signals with price/volume-only ones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6. Walk-forward validated the final weights — caught and rejected 2 overfitting traps along the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CHANGELOG.md — every step logged with exact numbers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Known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Single historical backtest window (2021-2025) — walk-forward validation reduces but doesn't eliminate regime-specific risk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Universe freshness depends on live network access to niftyindices.com (falls back to a local cache)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Transaction cost model is simplified (flat 0.1%, no bid-ask spread or market impact modeled separately)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•  No shorting, leverage, or other asset classes — true negative-correlation diversification isn't achievable within the competition's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98781"/>
                </a:solidFill>
                <a:latin typeface="Calibri"/>
              </a:rPr>
              <a:t>PROJECT_SUMMARY.md §7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0B0B"/>
                </a:solidFill>
                <a:latin typeface="Calibri"/>
              </a:rPr>
              <a:t>How Claude Was Used On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•  Built with Claude Code (Anthropic's AI coding assistant), Aug 20-29, 2026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Claude wrote the entire codebase and ran every backtest, tuning sweep, and validation shown in this deck — all on real live market data, not fabricated numbers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The human's role: directed what to build, asked challenging questions ("is this handled by Ledoit-Wolf?", "do more rigorous tuning"), made final calls on trade-offs, requested this documentation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0">
                <a:solidFill>
                  <a:srgbClr val="0B0B0B"/>
                </a:solidFill>
                <a:latin typeface="Calibri"/>
              </a:rPr>
              <a:t>•  Claude proactively flagged its own bugs, rejected results, and limitations throughout — not just favorable numbers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Full disclosure and methodology: PROJECT_SUMMARY.md §8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3C2B7"/>
                </a:solidFill>
                <a:latin typeface="Calibri"/>
              </a:rPr>
              <a:t>Full documentation: PROJECT_SUMMARY.md, CONCEPTS.md, CODE_GUIDE.md, CHANGELOG.md, BEGINNERS_GUIDE.md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